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BACHELOR · TRAVAIL SOCIAL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protégé au sujet de droits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Transformations du champ du handicap et nouvelle posture du travail social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4297680"/>
            <a:ext cx="3657600" cy="0"/>
          </a:xfrm>
          <a:prstGeom prst="line">
            <a:avLst/>
          </a:prstGeom>
          <a:noFill/>
          <a:ln w="31750">
            <a:solidFill>
              <a:srgbClr val="2B2B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4 / 12 — module « Handicap, autonomie et travail social »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Pierre Brasseur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du module — les 12 séances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Handicap, autonomie et travail social » — bachelor 2ᵉ année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82880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07592" y="182880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Définitions, enjeux, chiffres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2487168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" y="2487168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07592" y="248716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Histoire : de l'asile à l'institution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3145536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088" y="3145536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07592" y="3145536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I : du médical au social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4360" y="3803904"/>
            <a:ext cx="5349240" cy="566928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4088" y="3803904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07592" y="380390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&amp; posture   ★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4462272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" y="446227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07592" y="446227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II : droits, capabilités, CIF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512064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" y="512064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07592" y="51206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Désinstitutionnalisation &amp; habitat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26480" y="182880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36208" y="182880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839712" y="182880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Autodétermination &amp; pair-aidance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26480" y="2487168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36208" y="2487168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839712" y="248716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Financement orienté personne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26480" y="3145536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36208" y="3145536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839712" y="3145536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École inclusive &amp; transitions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26480" y="3803904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36208" y="3803904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839712" y="380390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 affective, sexuelle, intimité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126480" y="4462272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36208" y="446227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839712" y="446227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Vieillissement &amp; perte d'autonomie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126480" y="512064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36208" y="512064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6839712" y="51206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Synthèse, éthique &amp; évaluation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9436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Séance présentée aujourd'hui — la charnière : elle transforme les acquis en grille de lecture pour la posture professionnelle.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Situer la séance dans le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« Handicap, autonomie et travail social » — bachelor 2ᵉ année, 12 séances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2103120"/>
            <a:ext cx="3108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2103120"/>
            <a:ext cx="91440" cy="32004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Séances 1 – 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Fondations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8680" y="393192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Histoire (asile, institution, internements administratifs) et premiers modèles : médical → social.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343400" y="2103120"/>
            <a:ext cx="3108960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43400" y="2103120"/>
            <a:ext cx="91440" cy="32004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PIVOT — SÉANCE PRÉSENTÉE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1772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1772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Transformations &amp; posture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617720" y="393192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noue tout : modèles + transformations suisses / genevoises + les 3 tensions de posture.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092440" y="2103120"/>
            <a:ext cx="3200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92440" y="2103120"/>
            <a:ext cx="91440" cy="32004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66760" y="2697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Séances 5 – 12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66760" y="31089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Champs de pratique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366760" y="393192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&amp; capabilités, habitat, autodétermination, financement, école, intimité, vieillissement, synthèse.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749040" y="31089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498080" y="31089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594360" y="5577840"/>
            <a:ext cx="10881360" cy="6858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5577840"/>
            <a:ext cx="91440" cy="6858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55778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« savoir sur » au « savoir agir » : la séance 4 transforme les acquis en grille de lecture réutilisée dans tous les champs.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Ressources de la séance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documents sont accessibles en ligne — scannez le QR ou suivez le lien.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6400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2011680"/>
            <a:ext cx="91440" cy="32918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33172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de la séance</a:t>
            </a:r>
            <a:endParaRPr lang="en-US" sz="18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Diaporama (PowerPoint)</a:t>
            </a:r>
            <a:endParaRPr lang="en-US" sz="18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Handout / polycopié accessible</a:t>
            </a:r>
            <a:endParaRPr lang="en-US" sz="18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 de la séance</a:t>
            </a:r>
            <a:endParaRPr lang="en-US" sz="18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du module (12 séances)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754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pierrebrasseur.github.io/cours-handicap-ts/lecon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0" y="2011680"/>
            <a:ext cx="3200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QR_lecon_por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2240280"/>
            <a:ext cx="2743200" cy="27432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229600" y="5257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Scannez pour accéder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SITUATION DE MARIA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13716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Maria, 34 ans, tétraplégie. 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Elle vit en établissement spécialisé (EPH), où une équipe organise ses journées, ses repas, ses soins.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269748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Elle découvre la </a:t>
            </a:r>
            <a:pPr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contribution d'assistance de l'AI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: un financement qui lui permettrait de quitter l'institution, de louer son propre appartement et de </a:t>
            </a:r>
            <a:pPr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recruter, former et employer elle-même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ses accompagnant·e·s. Elle veut partir. L'équipe est inquiète.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" y="4663440"/>
            <a:ext cx="10881360" cy="128016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4663440"/>
            <a:ext cx="91440" cy="128016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6634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êtes le·la travailleur·se social·e qui suit sa situation.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ECEC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594360" y="2011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tout cours :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4360" y="265176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Qu'est-ce qui se joue ici, pour vous, professionnel·le·s ?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Quel est votre premier réflexe ?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94360" y="4846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 un mot. On garde Maria en tête : on y revient dans 35 minutes.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377440"/>
            <a:ext cx="1463040" cy="14630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237744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2514600" y="24688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quatre modèles du handicap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514600" y="36118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la définition du handicap s'est déplacée — et avec elle, la place du professionnel.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514600" y="3520440"/>
            <a:ext cx="2926080" cy="0"/>
          </a:xfrm>
          <a:prstGeom prst="line">
            <a:avLst/>
          </a:prstGeom>
          <a:noFill/>
          <a:ln w="19050">
            <a:solidFill>
              <a:srgbClr val="BBBB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modèle médical / individuel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historique des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handicap = une déficience logée dans le corps de l'individu.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diagnostiquer, réparer, rééduquer. La norme : la guérison.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personne est un patient, un « cas ».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DU PROFESSIONNEL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expert qui sait ce qui est bon pour la personne.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modèle social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Disability Studies — Oliver (1990), UPIAS (1976)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Distinction déficience (impairment) / handicap (disability).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handicap est produit par l'organisation sociale, pas par la personne.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Disability is something imposed on top of our impairments… » (UPIAS, 1976).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DU PROFESSIONNEL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 plus réparer l'individu, mais transformer l'environnement.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modèle fondé sur les droits humains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 de l'ONU (CDPH, 2006) — ratifiée par la Suisse en 2014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personne est un sujet de droits à part entière.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juridique (art. 12), vie autonome (art. 19), éducation inclusive (art. 24).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Rien sur nous sans nous » — « quand d'autres parlent pour vous, vous perdez » (Charlton, 1998).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DU PROFESSIONNEL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Garant et passeur de droits, allié de l'autodétermination.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Deux compléments pour penser la relation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5349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828800"/>
            <a:ext cx="91440" cy="36576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1031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Goffman (1963) — Stigmate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60120" y="2743200"/>
            <a:ext cx="4709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handicap comme identité abîmée dans l'interaction.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L'inclusion juridique ne suffit pas : le regard qui disqualifie persiste dans le quotidien.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126480" y="1828800"/>
            <a:ext cx="5349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26480" y="1828800"/>
            <a:ext cx="91440" cy="36576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1031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Capabilités — Sen, Nussbaum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492240" y="2743200"/>
            <a:ext cx="4709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compte n'est pas la prestation reçue.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la liberté réelle de mener la vie qu'on a raison de valoriser.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 direct avec l'autodétermination.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Relais suisse : J.-M. Bonvin (capabilités &amp; action sociale).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4360" y="56692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modèles ne se sont pas remplacés : ils coexistent et s'affrontent dans les institutions.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48640"/>
            <a:ext cx="1005840" cy="10058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486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965960" y="5486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transformations concrètes du champ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94360" y="1828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REPÈRES DU CADRE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2331720"/>
            <a:ext cx="256032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331720"/>
            <a:ext cx="2560320" cy="73152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Fédéral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971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LHand (2004)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CDPH ratifiée 2014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37560" y="2331720"/>
            <a:ext cx="256032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37560" y="2331720"/>
            <a:ext cx="2560320" cy="73152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Genève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20440" y="2971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LIPH (K 1 36, 2004)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OAIS — Pôle handicap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080760" y="2331720"/>
            <a:ext cx="256032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2331720"/>
            <a:ext cx="2560320" cy="73152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Acteur public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63640" y="2971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 — Établissements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publics pour l'intégration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823960" y="2331720"/>
            <a:ext cx="256032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23960" y="2331720"/>
            <a:ext cx="2560320" cy="73152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20" name="Text 18"/>
          <p:cNvSpPr/>
          <p:nvPr/>
        </p:nvSpPr>
        <p:spPr>
          <a:xfrm>
            <a:off x="900684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Actualité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006840" y="2971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Initiative « Pour l'inclusion » :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message du CF 25 fév. 2026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94360" y="45262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 du Comité de l'ONU à la Suisse (observations finales, 13 avril 2022) : sur-institutionnalisation, absence de stratégie de désinstitutionnalisation.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désinstitutionnalisation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des droits — art. 19 CDPH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Sortir du « tout-institution » : droit de choisir son lieu de vie.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Virage vers l'habitat inclusif et la vie autonome.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ANCRAGE GENÈVE / SUISSE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ONU 2022 : sur-institutionnalisation pointée. À Genève, tension entre le poids des EPH et la demande d'habitat inclusif.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Autodétermination &amp; pair-aidance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Rien sur nous sans nous »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« décider pour » au « décider avec », voire « décider par ».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savoir expérientiel devient une ressource légitime, parfois professionnalisée.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ANCRAGE GENÈVE / SUISSE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Recherche romande (HES-SO) : l'autodétermination se construit dans la relation socio-éducative (Cudré-Mauroux et al., 2020).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financement orienté personne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cas de Maria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d'assistance de l'AI (2012) : la personne emploie elle-même ses assistant·e·s.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: du financement de l'objet (l'institution) au financement du sujet (la personne).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: transfert d'une lourde charge de gestion à la personne — et au TS.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ANCRAGE GENÈVE / SUISSE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Dispositif fédéral (AI), de l'ordre de 35 CHF/h. Incarnation directe du modèle des droits et des capabilités.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: les paiements directs sont ambivalents (Pearson, 2000) — à la fois conquête du mouvement et logique de marché.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L'école inclusive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intercantonal sur la pédagogie spécialisée (2007 / 2011)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aux solutions intégratives sur les solutions séparatives.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L'inclusion est proclamée plus vite qu'elle n'est outillée.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ANCRAGE GENÈVE / SUISSE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Genève : Loi sur l'instruction publique, bannière « École inclusive ». Décalage droit / moyens.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377440"/>
            <a:ext cx="1463040" cy="14630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237744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2514600" y="24688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ça fait à la posture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514600" y="36118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transformations ne sont pas un simple progrès : elles reconfigurent le métier et y logent des tensions vives.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514600" y="3520440"/>
            <a:ext cx="2926080" cy="0"/>
          </a:xfrm>
          <a:prstGeom prst="line">
            <a:avLst/>
          </a:prstGeom>
          <a:noFill/>
          <a:ln w="19050">
            <a:solidFill>
              <a:srgbClr val="BBBB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Tension 1 — Autonomie vs protection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10881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828800"/>
            <a:ext cx="91440" cy="118872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96596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droit à l'autodétermination inclut le droit de prendre des risques </a:t>
            </a:r>
            <a:pPr indent="0" marL="0">
              <a:lnSpc>
                <a:spcPct val="115000"/>
              </a:lnSpc>
              <a:buNone/>
            </a:pPr>
            <a:r>
              <a:rPr lang="en-US" sz="1900" b="1" i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(« dignité du risque »)</a:t>
            </a:r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Mais le TS reste tenu par un devoir de protection.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4360" y="3154680"/>
            <a:ext cx="10881360" cy="868680"/>
          </a:xfrm>
          <a:prstGeom prst="rect">
            <a:avLst/>
          </a:prstGeom>
          <a:solidFill>
            <a:srgbClr val="F6F6F6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3154680"/>
            <a:ext cx="91440" cy="8686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2004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Priver une personne de sa juste part d'expériences de risque, c'est l'invalider davantage pour une vie saine. »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— Perske, 1972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94360" y="4160520"/>
            <a:ext cx="10881360" cy="187452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4160520"/>
            <a:ext cx="91440" cy="187452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437083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à Maria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4782312"/>
            <a:ext cx="10149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Soutenir son départ, c'est accepter qu'elle puisse échouer. La posture n'est plus de « protéger contre », mais d'accompagner un risque choisi.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Tensions 2 &amp; 3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5349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828800"/>
            <a:ext cx="91440" cy="37490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574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Expertise pro vs savoir expérientiel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2788920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Rien sur nous sans nous » fragilise la position de surplomb.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d'expert à facilitateur : mettre son expertise au service d'une décision qui n'est plus la sienne.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4114800"/>
            <a:ext cx="4754880" cy="1325880"/>
          </a:xfrm>
          <a:prstGeom prst="rect">
            <a:avLst/>
          </a:prstGeom>
          <a:solidFill>
            <a:srgbClr val="F6F6F6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114800"/>
            <a:ext cx="73152" cy="13258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4187952"/>
            <a:ext cx="43891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le choix il est où ? C'est j'accepte d'être pénalisée ou j'accepte de faire leur truc. »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S., 20 ans — Tabin et al. (2024) RSTS — « exclusion épistémique »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1828800"/>
            <a:ext cx="5349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828800"/>
            <a:ext cx="91440" cy="37490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20574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Logique gestionnaire vs accompagnement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2788920"/>
            <a:ext cx="4709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 standardisée, financement à la prestation, quantification des heures.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temps de la relation se heurte au temps comptable du nouveau management public.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Tronto : la 4ᵉ phase du care — recevoir le soin — est constitutive d'un bon accompagnement.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Bossé (DPA) : attention à transformer l'autonomie en devoir imposé.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PAR LA RECHERCHE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0972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L'assistance sexuelle, un cas-limite révélateur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210312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analyseur : </a:t>
            </a:r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pousse à l'extrême les trois tensions. Reconnaître le désir sexuel comme un besoin légitime, c'est pousser l'autodétermination jusqu'au corps — et percuter les normes professionnelles du 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94360" y="3657600"/>
            <a:ext cx="10881360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3657600"/>
            <a:ext cx="91440" cy="22860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88620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Compassionate stigma » — la stigmatisation par le care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443484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care peut lui-même stigmatiser : </a:t>
            </a:r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force de bienveillance protectrice, on maintient la personne en objet de sollicitude plutôt qu'en sujet désirant. La bonne intention ne suffit pas — d'où l'exigence d'une posture réflexive.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vous : retour sur Maria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920240"/>
            <a:ext cx="34290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920240"/>
            <a:ext cx="91440" cy="32918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2240280"/>
            <a:ext cx="777240" cy="7772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240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Seul·e — 1 min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37947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posture adoptez-vous maintenant ? Nommez LA tension que vous devez tenir.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251960" y="1920240"/>
            <a:ext cx="34290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51960" y="1920240"/>
            <a:ext cx="91440" cy="32918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240280"/>
            <a:ext cx="777240" cy="7772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2240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7200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binôme — 2 min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0" y="37947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Confrontez vos réponses. Êtes-vous d'accord sur la tension principale ?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909560" y="1920240"/>
            <a:ext cx="34290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09560" y="1920240"/>
            <a:ext cx="91440" cy="32918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0" y="2240280"/>
            <a:ext cx="777240" cy="7772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0" y="2240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22960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plénière — 2 min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229600" y="37947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relie chaque réponse à un modèle / une tension vus en cours.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94360" y="5486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première réaction (il y a 35 min) s'est-elle enrichie ?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EMPORTER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28016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champ est passé d'une logique de </a:t>
            </a:r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prise en charge</a:t>
            </a:r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d'un individu déficient à une logique de </a:t>
            </a:r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soutien aux droits</a:t>
            </a:r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d'un sujet autonome.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94360" y="3017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déplacement ne supprime pas votre rôle : il le transforme.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94360" y="4023360"/>
            <a:ext cx="10881360" cy="192024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4023360"/>
            <a:ext cx="91440" cy="1920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4160520"/>
            <a:ext cx="10149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défi n'est pas de choisir entre autonomie et protection, expertise et savoir vécu, relation et gestion — c'est d'apprendre à tenir ces tensions de façon réflexive, sans les fuir.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↗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Trois échelles, un même défi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10881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828800"/>
            <a:ext cx="91440" cy="1097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8288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International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069080" y="1828800"/>
            <a:ext cx="7040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œuvre la CDPH — la Suisse épinglée par l'ONU en 2022.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3063240"/>
            <a:ext cx="10881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94360" y="3063240"/>
            <a:ext cx="91440" cy="1097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0632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National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069080" y="3063240"/>
            <a:ext cx="7040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L'issue de l'initiative « Pour l'inclusion » et la désinstitutionnalisation.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4297680"/>
            <a:ext cx="10881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" y="4297680"/>
            <a:ext cx="91440" cy="1097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2976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— Genève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069080" y="4297680"/>
            <a:ext cx="7040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L'évolution du modèle EPH vers davantage d'habitat inclusif.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4360" y="56692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prochaine — l'habitat : comment ces tensions se négocient concrètement, au quotidien.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Transformations du champ du handicap et posture du travail social</dc:title>
  <dc:subject>PptxGenJS Presentation</dc:subject>
  <dc:creator>Pierre Brasseur</dc:creator>
  <cp:lastModifiedBy>Pierre Brasseur</cp:lastModifiedBy>
  <cp:revision>1</cp:revision>
  <dcterms:created xsi:type="dcterms:W3CDTF">2026-06-05T09:15:16Z</dcterms:created>
  <dcterms:modified xsi:type="dcterms:W3CDTF">2026-06-05T09:15:16Z</dcterms:modified>
</cp:coreProperties>
</file>