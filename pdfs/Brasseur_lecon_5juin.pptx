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BACHELOR · TRAVAIL SOCIAL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protégé au sujet de droits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Transformations du champ du handicap et nouvelle posture du travail social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914400" y="4297680"/>
            <a:ext cx="3657600" cy="0"/>
          </a:xfrm>
          <a:prstGeom prst="line">
            <a:avLst/>
          </a:prstGeom>
          <a:noFill/>
          <a:ln w="31750">
            <a:solidFill>
              <a:srgbClr val="2B2B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 / 13 — module « Handicap, autonomie et travail social »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 Brasseur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≡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du module — les 13 séances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Handicap, autonomie et travail social » — bachelor 2ᵉ année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783080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8308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34440" y="1783080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Définitions, enjeux, chiffres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94360" y="2386584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386584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386584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Histoire, anthropologie, stigmate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2990088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99008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34440" y="2990088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modèles du handicap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3593592"/>
            <a:ext cx="5349240" cy="512064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3593592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3593592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 &amp; posture professionnelle   ★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4197096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19709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234440" y="4197096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Droits, capabilités, capacité juridique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94360" y="4800600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80060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34440" y="4800600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Désinstitutionnalisation &amp; habitat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94360" y="5404104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404104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234440" y="5404104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intermédiaire — analyse de situation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126480" y="1783080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178308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66560" y="1783080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Autodétermination &amp; pair-aidance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126480" y="2386584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2386584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766560" y="2386584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Financement orienté personne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126480" y="2990088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2990088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766560" y="2990088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avec les proches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126480" y="3593592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0" y="3593592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66560" y="3593592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Vieillissement &amp; perte d'autonomie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126480" y="4197096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17920" y="4197096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766560" y="4197096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 affective, sexuelle, intimité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6126480" y="4800600"/>
            <a:ext cx="5349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4800600"/>
            <a:ext cx="457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766560" y="4800600"/>
            <a:ext cx="4617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Synthèse, éthique &amp; évaluation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9436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Séance présentée — la charnière : elle transforme les acquis en grille de lecture pour la posture.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Situer la séance dans le module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3108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2103120"/>
            <a:ext cx="91440" cy="3200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Séances 1 – 3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Fondations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39319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Chiffres, histoire et stigmate, présentation des quatre modèles théoriques du handicap.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2103120"/>
            <a:ext cx="3108960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103120"/>
            <a:ext cx="91440" cy="3200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331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PIVOT — SÉANCE PRÉSENTÉE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17720" y="2697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17720" y="3108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Transformations &amp; posture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17720" y="393192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→ transformations suisses/genevoises → trois tensions de posture.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92440" y="2103120"/>
            <a:ext cx="3200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92440" y="2103120"/>
            <a:ext cx="91440" cy="3200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66760" y="26974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Séances 5 – 13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366760" y="3108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Champs de pratique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66760" y="393192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Droits, habitat, autodétermination, financement, proches, vieillissement, intimité, synthèse.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49040" y="31089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7498080" y="31089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594360" y="5577840"/>
            <a:ext cx="10881360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5577840"/>
            <a:ext cx="91440" cy="6400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5778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« savoir sur » au « savoir agir » : la séance 4 outille la posture réutilisée dans tous les champs.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Ressources de la séance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documents en ligne — scannez le QR ou suivez le lien.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2011680"/>
            <a:ext cx="64008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201168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33172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détaillé de la séance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Diaporama (PowerPoint)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Handout / polycopié accessible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 de la séance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du module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754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pierrebrasseur.github.io/cours-handicap-ts/lecon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0" y="2011680"/>
            <a:ext cx="32004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QR_lecon_por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0" y="2240280"/>
            <a:ext cx="2743200" cy="27432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29600" y="5257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pour accéder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SITUATION DE MARIA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13716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Maria, 34 ans, vit avec une tétraplégie depuis un accident. 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Elle réside dans un établissement pour personnes handicapées (EPH), où une équipe organise ses journées, ses repas et ses soins.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94360" y="26974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Elle découvre la </a:t>
            </a:r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contribution d'assistance de l'AI</a:t>
            </a:r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: un financement qui lui permettrait de quitter l'institution, de louer son appartement et de </a:t>
            </a:r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recruter, former et employer elle-même</a:t>
            </a:r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ses assistant·es. Elle veut partir. L'équipe est partagée.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94360" y="4663440"/>
            <a:ext cx="1088136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4663440"/>
            <a:ext cx="91440" cy="128016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46634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le·la travailleur·se social·e qui suit sa situation.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CEC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594360" y="2011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tout cours 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2651760"/>
            <a:ext cx="1097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Qu'est-ce qui se joue ici, pour vous, professionnel·le·s ?</a:t>
            </a:r>
            <a:endParaRPr lang="en-US" sz="3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3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Quel est votre premier réflexe ?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94360" y="4846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 un mot. On garde Maria en tête : on y revient dans 35 minutes.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§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Modes d'intervention », pas « prise en charge »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lexique du travail social est un outil de pensée (Stiker)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10881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28800"/>
            <a:ext cx="91440" cy="11430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82880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Prise en charge 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434840" y="18288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personne-objet : asymétrie radicale entre qui prend et qui est pris·e.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10881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" y="3154680"/>
            <a:ext cx="91440" cy="11430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15468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Accompagnement »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434840" y="3154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Humanise, mais conserve une asymétrie : on accompagne qui ne marcherait pas seul.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" y="4480560"/>
            <a:ext cx="10881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4360" y="4480560"/>
            <a:ext cx="91440" cy="11430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48056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Modes d'intervention »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34840" y="448056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l'intitulé du poste — suppose une personne-sujet et des choix professionnels argumentés.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377440"/>
            <a:ext cx="1463040" cy="14630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3774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251460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quatre modèles du handicap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514600" y="3611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grammaires actives — et, pour chacune, une place différente du professionnel.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14600" y="3520440"/>
            <a:ext cx="2926080" cy="0"/>
          </a:xfrm>
          <a:prstGeom prst="line">
            <a:avLst/>
          </a:prstGeom>
          <a:noFill/>
          <a:ln w="1905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médical / réadaptatif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Stiker · traduction administrative : l'AI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= une déficience individuelle à corriger.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Norme implicite : productivité, autonomie fonctionnelle, comportement adapté.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Encore structurant dans l'évaluation AI.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26680" y="187452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PROFESSIONNELLE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974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Technicien de la conformité.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social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Oliver · UPIAS (1976)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Distinction déficience (impairment) / handicap (disability).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est produit par les barrières environnementales.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 : minore la souffrance corporelle (Crow, Shakespeare).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26680" y="187452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PROFESSIONNELLE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974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Acteur du changement environnemental.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MDH-PPH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Fougeyrollas · RIPPH (Québec, 2010)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n'est ni dans la personne ni dans l'environnement, mais dans leur rencontre.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Métaphore : le funambule (la personne), le fil (les habitudes de vie), la toile (l'environnement).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la recherche romande HETS sur la participation (Masse et al.).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26680" y="187452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PROFESSIONNELLE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974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Évaluateur situationnel : facilitateurs et obstacles.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droits humains &amp; capabilités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CDPH ONU (2006) · Sen, Nussbaum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CDPH : la personne est sujet de droits. Art. 12 (capacité juridique), 19 (vie autonome), 24 (éducation).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soutien à la décision contre la substitution (tutelle / curatelle).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Capabilités : la liberté réelle de mener la vie qu'on valorise (relais suisse : Bonvin).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26680" y="187452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PROFESSIONNELLE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974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Garant de droits et facilitateur de capabilités.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Une grille opérationnelle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1828800" cy="457200"/>
          </a:xfrm>
          <a:prstGeom prst="rect">
            <a:avLst/>
          </a:prstGeom>
          <a:solidFill>
            <a:srgbClr val="2B2B2B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920240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23160" y="1920240"/>
            <a:ext cx="3291840" cy="457200"/>
          </a:xfrm>
          <a:prstGeom prst="rect">
            <a:avLst/>
          </a:prstGeom>
          <a:solidFill>
            <a:srgbClr val="2B2B2B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32888" y="192024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Idée centrale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715000" y="1920240"/>
            <a:ext cx="3017520" cy="457200"/>
          </a:xfrm>
          <a:prstGeom prst="rect">
            <a:avLst/>
          </a:prstGeom>
          <a:solidFill>
            <a:srgbClr val="2B2B2B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24728" y="192024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732520" y="1920240"/>
            <a:ext cx="2743200" cy="457200"/>
          </a:xfrm>
          <a:prstGeom prst="rect">
            <a:avLst/>
          </a:prstGeom>
          <a:solidFill>
            <a:srgbClr val="2B2B2B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42248" y="1920240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237744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" y="2377440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Médical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423160" y="2377440"/>
            <a:ext cx="3291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32888" y="2377440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Déficience à corriger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15000" y="2377440"/>
            <a:ext cx="3017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24728" y="237744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Technicien de la conformité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32520" y="2377440"/>
            <a:ext cx="2743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248" y="23774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la personne à un milieu non interrogé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3246120"/>
            <a:ext cx="182880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4088" y="3246120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423160" y="3246120"/>
            <a:ext cx="329184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32888" y="3246120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handicap est produit par les barrières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15000" y="3246120"/>
            <a:ext cx="301752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4728" y="324612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Acteur du changement environnemental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732520" y="3246120"/>
            <a:ext cx="274320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42248" y="324612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Minorer le corps et la souffrance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94360" y="411480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088" y="4114800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MDH-PPH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23160" y="4114800"/>
            <a:ext cx="3291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32888" y="4114800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interaction personne / environnement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715000" y="4114800"/>
            <a:ext cx="3017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24728" y="411480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Évaluateur situationnel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732520" y="4114800"/>
            <a:ext cx="27432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42248" y="411480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Difficile à opérationnaliser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94360" y="4983480"/>
            <a:ext cx="182880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4088" y="4983480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Droits + capabilités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423160" y="4983480"/>
            <a:ext cx="329184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32888" y="4983480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Sujet de droits ; capabilité réelle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715000" y="4983480"/>
            <a:ext cx="301752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24728" y="4983480"/>
            <a:ext cx="27980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 de droits et facilitateur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732520" y="4983480"/>
            <a:ext cx="2743200" cy="8686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42248" y="498348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Effectivité variable des droits proclamés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9436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modèles ne sont pas des étapes successives : ils coexistent dans chaque institution. Reconnaître le modèle dominant, c'est déjà commencer à intervenir.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48640"/>
            <a:ext cx="1005840" cy="10058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48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965960" y="5486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transformations contemporaines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94360" y="1783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NORMATIF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4871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CDPH ONU (2006), ratifiée 2014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Observations du Comité, 13 avril 2022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3375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375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4871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292608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Initiative « Pour l'inclusion » (2024)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Contre-projet du CF, 25 fév. 2026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0807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24871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Genève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292608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cantonal CDPH (2023)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Avant-projet LED-H (consult. 2024)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823960" y="2331720"/>
            <a:ext cx="2560320" cy="182880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23960" y="2331720"/>
            <a:ext cx="2560320" cy="73152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0" name="Text 18"/>
          <p:cNvSpPr/>
          <p:nvPr/>
        </p:nvSpPr>
        <p:spPr>
          <a:xfrm>
            <a:off x="9006840" y="24871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cœur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06840" y="2926080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Contribution d'assistance AI (2012)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cas de Maria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94360" y="44805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Comité de l'ONU (2022) critique l'absence de stratégie de désinstitutionnalisation. Trois transformations concrètes en découlent.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Désinstitutionnalisation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19 CDPH — vivre dans la société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du « tout-institution » : choisir son lieu de vie.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fermer sans investir crée transinstitutionnalisation et non-recours.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26680" y="187452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REPÈRE / RECHERCHE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974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Mansell &amp; Beadle-Brown (IASSIDD) : la qualité dépend de l'organisation des services de proximité. ENIL.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Autodétermination &amp; pair-aidance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Rien sur nous sans nous »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Agir comme l'agent causal de sa vie (Wehmeyer) ; soutenir l'autonomie ≠ la contrôler.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Savoirs expérientiels et pair-aidance (Jouet, Flora, Las Vergnas).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26680" y="187452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REPÈRE / RECHERCHE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974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(Brasseur &amp; Rodriguez) : personnes concernées « témoins », valides « experts » — une division épistémique à travailler.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Financement orienté personne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463040" y="1207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 de Maria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94360" y="1874520"/>
            <a:ext cx="67665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148840"/>
            <a:ext cx="6126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d'assistance AI (2012) : la personne emploie elle-même ses assistant·es.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financement de l'objet (l'institution) au financement du sujet — mais une lourde charge de gestion.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Cash-for-care ambivalent : « citizen-as-purchaser » (Glendinning).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26680" y="1874520"/>
            <a:ext cx="3749040" cy="338328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26680" y="1874520"/>
            <a:ext cx="91440" cy="33832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0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REPÈRE / RECHERCHE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26974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OFAS 2020 : ~2 600 bénéficiaires, 81 % de satisfaction. « Droits vulnérables » (Revillard) : tout dépend de l'intermédiation.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2377440"/>
            <a:ext cx="1463040" cy="14630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23774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2514600" y="24688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tensions de la posture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514600" y="3611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transformations ne sont pas un simple progrès : elles reconfigurent le métier.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14600" y="3520440"/>
            <a:ext cx="2926080" cy="0"/>
          </a:xfrm>
          <a:prstGeom prst="line">
            <a:avLst/>
          </a:prstGeom>
          <a:noFill/>
          <a:ln w="19050">
            <a:solidFill>
              <a:srgbClr val="BBBB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Tension 1 — Protection / Autonomie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10881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74520"/>
            <a:ext cx="91440" cy="11430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116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indent="0" marL="0">
              <a:lnSpc>
                <a:spcPct val="115000"/>
              </a:lnSpc>
              <a:buNone/>
            </a:pPr>
            <a:r>
              <a:rPr lang="en-US" sz="1800" b="1" i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dignité du risque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les personnes ont droit aux risques ordinaires — travailler, aimer, voyager, se tromper. Surprotéger nie leur humanité.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94360" y="3154680"/>
            <a:ext cx="10881360" cy="868680"/>
          </a:xfrm>
          <a:prstGeom prst="rect">
            <a:avLst/>
          </a:prstGeom>
          <a:solidFill>
            <a:srgbClr val="F6F6F6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154680"/>
            <a:ext cx="91440" cy="86868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32004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There can be such a thing as human dignity in risk. And there can be a dehumanizing indignity in safety! » </a:t>
            </a:r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Perske, 1972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94360" y="4160520"/>
            <a:ext cx="10881360" cy="187452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4360" y="4160520"/>
            <a:ext cx="91440" cy="187452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437083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12 CDPH : du paradigme tutélaire (substitution) au paradigme du soutien à la décision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480060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tension ne se résout pas par l'autonomie contre la protection, mais par une éthique du care qui pense la vulnérabilité comme constitutive (Tronto ; Paperman, Laugier, Molinier).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Tensions 2 &amp; 3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534924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874520"/>
            <a:ext cx="91440" cy="379476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1031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Expertise pro / Savoir expérientiel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8346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Nothing about us without us » (Charlton) : une épistémologie politique.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Pair-aidance, auto-représentation, co-recherche transforment les pratiques.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la division « témoins / experts » (Brasseur &amp; Rodriguez) peut reconduire l'asymétrie.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126480" y="1874520"/>
            <a:ext cx="5349240" cy="3794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26480" y="1874520"/>
            <a:ext cx="91440" cy="379476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1031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Travail prescrit / Travail réel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 : l'activité réelle déborde le prescrit ; quand le pouvoir d'agir se réduit, la souffrance s'installe.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Lipsky : le·la TS, « street-level bureaucrat », produit la politique publique au guichet (Dubois).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4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émotionnel (Hochschild) ; reflection-in-action (Schön).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vous : retour sur Maria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43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92024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240280"/>
            <a:ext cx="777240" cy="7772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Seul·e — 2 min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Choisissez une tension et prenez position.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2519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51960" y="192024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240280"/>
            <a:ext cx="777240" cy="7772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binôme — 2 min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diriez-vous à Maria, à ses proches, à l'équipe ?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7909560" y="1920240"/>
            <a:ext cx="34290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09560" y="1920240"/>
            <a:ext cx="91440" cy="32918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0" y="2240280"/>
            <a:ext cx="777240" cy="77724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0" y="2240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229600" y="3200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Restitution — 1 min/binôme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229600" y="37947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relie chaque réponse à une tension et à un modèle.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9436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n'y a pas de bonne réponse — une posture argumentée. Leur réflexe du début s'est-il enrichi ?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40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EMPORTER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94360" y="1325880"/>
            <a:ext cx="10881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325880"/>
            <a:ext cx="91440" cy="12344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618488"/>
            <a:ext cx="640080" cy="64008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18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132588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modèles ne sont pas des étapes, mais des grammaires actives qui coexistent. Reconnaître le modèle dominant, c'est déjà intervenir.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743200"/>
            <a:ext cx="10881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2743200"/>
            <a:ext cx="91440" cy="12344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3035808"/>
            <a:ext cx="640080" cy="64008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035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37360" y="274320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transformations ouvrent des marges concrètes — mais ce sont des droits vulnérables, dont l'effectivité dépend de l'intermédiation.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94360" y="4160520"/>
            <a:ext cx="10881360" cy="123444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4160520"/>
            <a:ext cx="91440" cy="12344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4453128"/>
            <a:ext cx="640080" cy="640080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4531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416052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posture n'est pas un trait personnel : c'est un travail réflexif quotidien sur trois tensions, à habiter de façon argumentée.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02920"/>
            <a:ext cx="658368" cy="658368"/>
          </a:xfrm>
          <a:prstGeom prst="ellipse">
            <a:avLst/>
          </a:prstGeom>
          <a:solidFill>
            <a:srgbClr val="2B2B2B"/>
          </a:solidFill>
          <a:ln/>
        </p:spPr>
      </p:sp>
      <p:sp>
        <p:nvSpPr>
          <p:cNvPr id="3" name="Text 1"/>
          <p:cNvSpPr/>
          <p:nvPr/>
        </p:nvSpPr>
        <p:spPr>
          <a:xfrm>
            <a:off x="594360" y="50292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↗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463040" y="457200"/>
            <a:ext cx="10104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Tenir les tensions, sans les fuir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défi des futur·e·s professionnel·le·s n'est pas de choisir entre protection et autonomie, expertise et savoir vécu, prescrit et réel — c'est d'apprendre à tenir ces tensions de façon réflexive.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94360" y="3200400"/>
            <a:ext cx="10881360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BBBBB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3200400"/>
            <a:ext cx="91440" cy="146304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383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suivante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3749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travail avec les proches : entre alliés, opposants et co-aidants. » Apportez une situation où la famille vous a déstabilisé·e.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5029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je suis à vous pour la discussion.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HETS Genève · Leçon probatoire · 5 juin 2026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4712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 protégé au sujet de droits</dc:title>
  <dc:subject>PptxGenJS Presentation</dc:subject>
  <dc:creator>Pierre Brasseur</dc:creator>
  <cp:lastModifiedBy>Pierre Brasseur</cp:lastModifiedBy>
  <cp:revision>1</cp:revision>
  <dcterms:created xsi:type="dcterms:W3CDTF">2026-06-05T11:23:28Z</dcterms:created>
  <dcterms:modified xsi:type="dcterms:W3CDTF">2026-06-05T11:23:28Z</dcterms:modified>
</cp:coreProperties>
</file>