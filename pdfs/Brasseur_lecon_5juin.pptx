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3657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Helvetica"/>
              </a:rPr>
              <a:t>Bachelor en travail social · Module Handicap, autonomie et travail social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Helvetica"/>
              </a:rPr>
              <a:t>Du protégé au sujet de droits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Helvetica"/>
              </a:rPr>
              <a:t>Trois défis structurels pour les futur·es travailleur·euses sociaux·ales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  <a:latin typeface="Helvetica"/>
              </a:rPr>
              <a:t>Transformations du champ du handicap et nouvelle posture du travail social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Helvetica"/>
              </a:rPr>
              <a:t>Pierre Brasseur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Helvetica"/>
              </a:rPr>
              <a:t>Sociologue · candidat au poste de professeur HES associé réf. 309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Helvetica"/>
              </a:rPr>
              <a:t>Leçon probatoire · HETS Genève · 5 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3A6F"/>
                </a:solidFill>
                <a:latin typeface="Helvetica"/>
              </a:rPr>
              <a:t>Plan de la séance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Helvetica"/>
              </a:rPr>
              <a:t>40 minutes · une vignette comme fil rouge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463040" cy="6400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8102E"/>
                </a:solidFill>
                <a:latin typeface="Helvetica"/>
              </a:rPr>
              <a:t>0-5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55448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B3A6F"/>
                </a:solidFill>
                <a:latin typeface="Helvetica"/>
              </a:rPr>
              <a:t>Accroche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92024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Helvetica"/>
              </a:rPr>
              <a:t>La vignette de Léa : un dilemme professionnel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1463040" cy="6400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8102E"/>
                </a:solidFill>
                <a:latin typeface="Helvetica"/>
              </a:rPr>
              <a:t>5-13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51460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B3A6F"/>
                </a:solidFill>
                <a:latin typeface="Helvetica"/>
              </a:rPr>
              <a:t>Les modèles du handicap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88036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Helvetica"/>
              </a:rPr>
              <a:t>Médical · social · MDH-PPH · droits humains · capabilités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29000"/>
            <a:ext cx="1463040" cy="6400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8102E"/>
                </a:solidFill>
                <a:latin typeface="Helvetica"/>
              </a:rPr>
              <a:t>13-23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47472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B3A6F"/>
                </a:solidFill>
                <a:latin typeface="Helvetica"/>
              </a:rPr>
              <a:t>Les transformations concrètes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84048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Helvetica"/>
              </a:rPr>
              <a:t>Désinstitutionnalisation · autodétermination · contribution d'assistance · école inclusive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89120"/>
            <a:ext cx="1463040" cy="6400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52628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8102E"/>
                </a:solidFill>
                <a:latin typeface="Helvetica"/>
              </a:rPr>
              <a:t>23-33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43484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B3A6F"/>
                </a:solidFill>
                <a:latin typeface="Helvetica"/>
              </a:rPr>
              <a:t>Ce que ça fait à la posture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80060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Helvetica"/>
              </a:rPr>
              <a:t>Trois défis structurels (tensions) de la pratique professionnelle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49240"/>
            <a:ext cx="1463040" cy="6400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48640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8102E"/>
                </a:solidFill>
                <a:latin typeface="Helvetica"/>
              </a:rPr>
              <a:t>33-40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39496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B3A6F"/>
                </a:solidFill>
                <a:latin typeface="Helvetica"/>
              </a:rPr>
              <a:t>Retour à la vignette + synthèse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76072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Helvetica"/>
              </a:rPr>
              <a:t>Activité interactive et ouverture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"/>
              </a:rPr>
              <a:t>Du protégé au sujet de droits · Leçon probatoire HETS · 5 juin 2026 ·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Helvetica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3A6F"/>
                </a:solidFill>
                <a:latin typeface="Helvetica"/>
              </a:rPr>
              <a:t>La situation de Léa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Helvetica"/>
              </a:rPr>
              <a:t>Vignette de travail · ouverte et clôt la séance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4297680"/>
          </a:xfrm>
          <a:prstGeom prst="rect">
            <a:avLst/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8102E"/>
                </a:solidFill>
                <a:latin typeface="Helvetica"/>
              </a:rPr>
              <a:t>Léa, 22 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0584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"/>
              </a:rPr>
              <a:t>Léa a une trisomie 21. Elle vit à L'Atelier, dispositif d'accompagnement des jeunes</a:t>
            </a:r>
          </a:p>
          <a:p>
            <a:pPr algn="l"/>
            <a:r>
              <a:rPr sz="1600" b="0" i="0">
                <a:solidFill>
                  <a:srgbClr val="1A1A1A"/>
                </a:solidFill>
                <a:latin typeface="Helvetica"/>
              </a:rPr>
              <a:t>adultes de 15 à 18 ans, géré par la Fondation Ensemble à Genève.</a:t>
            </a:r>
          </a:p>
          <a:p>
            <a:pPr algn="l"/>
            <a:r>
              <a:rPr sz="1600" b="0" i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/>
            <a:r>
              <a:rPr sz="1600" b="0" i="0">
                <a:solidFill>
                  <a:srgbClr val="1A1A1A"/>
                </a:solidFill>
                <a:latin typeface="Helvetica"/>
              </a:rPr>
              <a:t>Un matin, en réunion d'équipe, son éducatrice référente rapporte une demande :</a:t>
            </a:r>
          </a:p>
          <a:p>
            <a:pPr algn="l"/>
            <a:r>
              <a:rPr sz="1600" b="0" i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/>
            <a:r>
              <a:rPr sz="1600" b="0" i="0">
                <a:solidFill>
                  <a:srgbClr val="1A1A1A"/>
                </a:solidFill>
                <a:latin typeface="Helvetica"/>
              </a:rPr>
              <a:t>« Je veux un appartement à moi et un amoureux qui dort là. »</a:t>
            </a:r>
          </a:p>
          <a:p>
            <a:pPr algn="l"/>
            <a:r>
              <a:rPr sz="1600" b="0" i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/>
            <a:r>
              <a:rPr sz="1600" b="0" i="0">
                <a:solidFill>
                  <a:srgbClr val="1A1A1A"/>
                </a:solidFill>
                <a:latin typeface="Helvetica"/>
              </a:rPr>
              <a:t>La mère de Léa, qui vient chaque week-end, demande à l'équipe de la « raisonner 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1">
                <a:solidFill>
                  <a:srgbClr val="1B3A6F"/>
                </a:solidFill>
                <a:latin typeface="Helvetica"/>
              </a:rPr>
              <a:t>Que feriez-vous, vous, si Léa vous disait cela demain en formation pratique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"/>
              </a:rPr>
              <a:t>Du protégé au sujet de droits · Leçon probatoire HETS · 5 juin 2026 · Vignette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Helvetica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3A6F"/>
                </a:solidFill>
                <a:latin typeface="Helvetica"/>
              </a:rPr>
              <a:t>Pourquoi « modes d'intervention » plutôt que « prise en charge »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Helvetica"/>
              </a:rPr>
              <a:t>Le lexique est un outil de pensée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3657600" cy="32004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Helvetica"/>
              </a:rPr>
              <a:t>PRISE EN CHARGE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3108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Helvetica"/>
              </a:rPr>
              <a:t>La personne est un objet à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Helvetica"/>
              </a:rPr>
              <a:t>gérer. Le pro est compétent,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Helvetica"/>
              </a:rPr>
              <a:t>elle ne l'est pas.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828800"/>
            <a:ext cx="3657600" cy="32004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10312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Helvetica"/>
              </a:rPr>
              <a:t>ACCOMPAGNEMENT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926080"/>
            <a:ext cx="3108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Helvetica"/>
              </a:rPr>
              <a:t>La personne est un sujet qui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Helvetica"/>
              </a:rPr>
              <a:t>chemine. Le pro est à côté,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Helvetica"/>
              </a:rPr>
              <a:t>attentif et soutien.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828800"/>
            <a:ext cx="3657600" cy="3200400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10312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"/>
              </a:rPr>
              <a:t>MODES D'INTERVENTION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926080"/>
            <a:ext cx="3108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Helvetica"/>
              </a:rPr>
              <a:t>La personne est un sujet en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Helvetica"/>
              </a:rPr>
              <a:t>situation. Le pro choisit des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Helvetica"/>
              </a:rPr>
              <a:t>outils selon ce que la situation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Helvetica"/>
              </a:rPr>
              <a:t>appelle.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C8102E"/>
                </a:solidFill>
                <a:latin typeface="Helvetica"/>
              </a:rPr>
              <a:t>→ Le choix lexical engage déjà une posture professionnelle.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"/>
              </a:rPr>
              <a:t>Du protégé au sujet de droits · Leçon probatoire HETS · 5 juin 2026 · Lexique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Helvetica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3A6F"/>
                </a:solidFill>
                <a:latin typeface="Helvetica"/>
              </a:rPr>
              <a:t>Les modèles du handicap (1) : médical &amp; social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Helvetica"/>
              </a:rPr>
              <a:t>Du déficit à la barrière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486400" cy="4572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Helvetica"/>
              </a:rPr>
              <a:t>MODÈLE MÉDICAL ET RÉADAPTATIF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1206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>Origines : fin XIXe – milieu XXe.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>Le handicap = déficience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>de la personne, à corriger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>par la rééducation.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>La réadaptation fonctionnelle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>comme paradigme.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>Posture professionnelle :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>— le travailleur social comme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>technicien de la conformité.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554480"/>
            <a:ext cx="5486400" cy="4572000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"/>
              </a:rPr>
              <a:t>MODÈLE SOCIAL (Oliver, UPIAS 1976)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51206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Origines : disability movement britannique.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/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Le handicap = produit social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de barrières environnementales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et institutionnelles.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/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Distinction : impairment / disability.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/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Posture professionnelle :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— le travailleur social comme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acteur du changement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environnemental.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"/>
              </a:rPr>
              <a:t>Du protégé au sujet de droits · Leçon probatoire HETS · 5 juin 2026 · Modèles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Helvetica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3A6F"/>
                </a:solidFill>
                <a:latin typeface="Helvetica"/>
              </a:rPr>
              <a:t>Les modèles du handicap (2) : MDH-PPH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Helvetica"/>
              </a:rPr>
              <a:t>Modèle de développement humain – Processus de production du handicap (Fougeyrollas, RIPPH Québec)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47120" cy="43891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920240"/>
            <a:ext cx="347472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8102E"/>
                </a:solidFill>
                <a:latin typeface="Helvetica"/>
              </a:rPr>
              <a:t>FACTEURS PERSONNELS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systèmes organiques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aptitudes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facteurs identitaires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920240"/>
            <a:ext cx="347472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0" y="20116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8102E"/>
                </a:solidFill>
                <a:latin typeface="Helvetica"/>
              </a:rPr>
              <a:t>FACTEURS ENVIRONNEMENTAUX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0" y="242316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physiques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sociaux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culturels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297680"/>
            <a:ext cx="347472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3891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8102E"/>
                </a:solidFill>
                <a:latin typeface="Helvetica"/>
              </a:rPr>
              <a:t>HABITUDES DE VIE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80060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activités courantes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rôles sociaux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4297680"/>
            <a:ext cx="347472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43891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8102E"/>
                </a:solidFill>
                <a:latin typeface="Helvetica"/>
              </a:rPr>
              <a:t>PARTICIPATION / SITUATION DE HANDICAP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480060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résultat de l'interaction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personne × environnement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20040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B3A6F"/>
                </a:solidFill>
                <a:latin typeface="Helvetica"/>
              </a:rPr>
              <a:t>INTERACTION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C8102E"/>
                </a:solidFill>
                <a:latin typeface="Helvetica"/>
              </a:rPr>
              <a:t>→ Posture professionnelle : le travailleur social comme évaluateur situationnel.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"/>
              </a:rPr>
              <a:t>Du protégé au sujet de droits · Leçon probatoire HETS · 5 juin 2026 · MDH-PPH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Helvetica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3A6F"/>
                </a:solidFill>
                <a:latin typeface="Helvetica"/>
              </a:rPr>
              <a:t>Les modèles du handicap (3) : droits humains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Helvetica"/>
              </a:rPr>
              <a:t>La Convention de l'ONU relative aux droits des personnes handicapées (CDPH, 2006)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Helvetica"/>
              </a:rPr>
              <a:t>Ratifiée par la Suisse le 15 avril 2014. Entrée en vigueur 15 mai 2014.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1828800" cy="10972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Helvetica"/>
              </a:rPr>
              <a:t>Article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2194560"/>
            <a:ext cx="9052560" cy="10972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3317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Reconnaissance de la personnalité juridique dans des conditions d'égalité.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Fin du paradigme tutélaire de substitution, passage au paradigme du soutien (supported decision-making).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566160"/>
            <a:ext cx="1828800" cy="10972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Helvetica"/>
              </a:rPr>
              <a:t>Article 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3566160"/>
            <a:ext cx="9052560" cy="10972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Autonomie de vie et inclusion dans la société.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Les États doivent garantir le droit à choisir son lieu de vie, à ne pas être placé en institution sans son consentement libre et éclairé.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937760"/>
            <a:ext cx="1828800" cy="10972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3035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Helvetica"/>
              </a:rPr>
              <a:t>Article 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4937760"/>
            <a:ext cx="9052560" cy="10972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50749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Éducation inclusive.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Les États s'engagent à assurer un système d'éducation inclusif à tous les niveaux.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"/>
              </a:rPr>
              <a:t>Du protégé au sujet de droits · Leçon probatoire HETS · 5 juin 2026 · Droits humains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Helvetica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3A6F"/>
                </a:solidFill>
                <a:latin typeface="Helvetica"/>
              </a:rPr>
              <a:t>Les modèles du handicap (4) : capabilités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Helvetica"/>
              </a:rPr>
              <a:t>Martha Nussbaum (2006), à partir d'Amartya 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1B3A6F"/>
                </a:solidFill>
                <a:latin typeface="Helvetica"/>
              </a:rPr>
              <a:t>Ce qui compte n'est pas l'autonomie comme attribut individuel,</a:t>
            </a:r>
          </a:p>
          <a:p>
            <a:pPr algn="l"/>
            <a:r>
              <a:rPr sz="1600" b="0" i="1">
                <a:solidFill>
                  <a:srgbClr val="1B3A6F"/>
                </a:solidFill>
                <a:latin typeface="Helvetica"/>
              </a:rPr>
              <a:t>mais la capabilité — ce que la personne peut effectivement faire et être.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926080"/>
            <a:ext cx="2103120" cy="7315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Helvetica"/>
              </a:rPr>
              <a:t>Vie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2926080"/>
            <a:ext cx="2103120" cy="7315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31089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Helvetica"/>
              </a:rPr>
              <a:t>Santé du corps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2926080"/>
            <a:ext cx="2103120" cy="7315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31089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Helvetica"/>
              </a:rPr>
              <a:t>Intégrité du corps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2926080"/>
            <a:ext cx="2103120" cy="7315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31089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Helvetica"/>
              </a:rPr>
              <a:t>Imagination &amp; pensée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926080"/>
            <a:ext cx="2103120" cy="7315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31089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Helvetica"/>
              </a:rPr>
              <a:t>Émotions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840480"/>
            <a:ext cx="2103120" cy="7315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Helvetica"/>
              </a:rPr>
              <a:t>Raison pratique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360" y="3840480"/>
            <a:ext cx="2103120" cy="7315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800" y="40233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Helvetica"/>
              </a:rPr>
              <a:t>Affiliation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3840480"/>
            <a:ext cx="2103120" cy="7315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40233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Helvetica"/>
              </a:rPr>
              <a:t>Autres espèces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920" y="3840480"/>
            <a:ext cx="2103120" cy="7315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40233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Helvetica"/>
              </a:rPr>
              <a:t>Jeu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3840480"/>
            <a:ext cx="2103120" cy="7315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40233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Helvetica"/>
              </a:rPr>
              <a:t>Maîtrise sur son environnement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C8102E"/>
                </a:solidFill>
                <a:latin typeface="Helvetica"/>
              </a:rPr>
              <a:t>→ Posture professionnelle : le travailleur social comme garant de droits et facilitateur de capabilités.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1B3A6F"/>
                </a:solidFill>
                <a:latin typeface="Helvetica"/>
              </a:rPr>
              <a:t>[Micro-interaction] Et la mère de Léa, à quel modèle se rattache-t-elle ? Et l'équipe 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"/>
              </a:rPr>
              <a:t>Du protégé au sujet de droits · Leçon probatoire HETS · 5 juin 2026 · Capabilités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Helvetica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3A6F"/>
                </a:solidFill>
                <a:latin typeface="Helvetica"/>
              </a:rPr>
              <a:t>Transformation 1 : désinstitutionnalisation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Helvetica"/>
              </a:rPr>
              <a:t>Du cadre normatif aux dynamiques suisses et genevoises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371600" cy="6400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"/>
              </a:rPr>
              <a:t>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554480"/>
            <a:ext cx="960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Adoption CDPH ONU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1371600" cy="6400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"/>
              </a:rPr>
              <a:t>2014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331720"/>
            <a:ext cx="960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Ratification par la Suisse (15 avril)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08960"/>
            <a:ext cx="1371600" cy="6400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4612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"/>
              </a:rPr>
              <a:t>2022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108960"/>
            <a:ext cx="960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Observations finales Comité ONU CDPH : 80+ recommandations.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« Absence de stratégie nationale de désinstitutionnalisation. 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86200"/>
            <a:ext cx="1371600" cy="6400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02336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"/>
              </a:rPr>
              <a:t>2023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886200"/>
            <a:ext cx="960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Plan cantonal genevois de mise en œuvre CDPH, volume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63440"/>
            <a:ext cx="1371600" cy="6400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0060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"/>
              </a:rPr>
              <a:t>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663440"/>
            <a:ext cx="960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Initiative populaire « Pour l'inclusion » déposée le 5 septembre :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107 910 signatures validées sur 109 110.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Avant-projet LED-H genevois en consultation.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440680"/>
            <a:ext cx="1371600" cy="6400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57784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"/>
              </a:rPr>
              <a:t>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5440680"/>
            <a:ext cx="960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Contre-projet du Conseil fédéral à l'Initiative inclusion : message du 25 février.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"/>
              </a:rPr>
              <a:t>Du protégé au sujet de droits · Leçon probatoire HETS · 5 juin 2026 · Désinstitutionnalisation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Helvetica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3A6F"/>
                </a:solidFill>
                <a:latin typeface="Helvetica"/>
              </a:rPr>
              <a:t>Transformation 2 : autodétermination et pair-aidance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Helvetica"/>
              </a:rPr>
              <a:t>Théorie et pratique : du concept aux nouveaux rôles professionnels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77840" cy="4572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Helvetica"/>
              </a:rPr>
              <a:t>AUTODÉTERMINATION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Helvetica"/>
              </a:rPr>
              <a:t>Ryan &amp; Deci (2017). Wehmeyer (1996).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52120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>Quatre dimensions du comportement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>autodéterminé (Wehmeyer) :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>— Autonomie comportementale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>— Autorégulation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>— Empowerment psychologique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>— Auto-actualisation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>Lachapelle, Wehmeyer &amp; Shogren 2022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>(Nouvelle Revue, francophone)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486400" cy="4572000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"/>
              </a:rPr>
              <a:t>PAIR-AIDANCE &amp; SAVOIRS EXPÉRIENTIELS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Helvetica"/>
              </a:rPr>
              <a:t>Jouet, Flora &amp; Las Vergnas (2010).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97480"/>
            <a:ext cx="51206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« Nothing about us without us »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(Charlton 1998).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/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Le savoir expérientiel comme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savoir politique légitime.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/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Figure professionnelle nouvelle :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le pair-aidant.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/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À la HETS : Masse, Souesme,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Delessert sur la pair-aidance en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déficience intellectuelle.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"/>
              </a:rPr>
              <a:t>Du protégé au sujet de droits · Leçon probatoire HETS · 5 juin 2026 · Autodétermination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Helvetica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3A6F"/>
                </a:solidFill>
                <a:latin typeface="Helvetica"/>
              </a:rPr>
              <a:t>Transformation 3 : contribution d'assistance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Helvetica"/>
              </a:rPr>
              <a:t>Le financement orienté personne, le cas suisse depuis 2012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Helvetica"/>
              </a:rPr>
              <a:t>Logique cash-for-care : la personne reçoit l'argent et engage elle-même ses assistant·es.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3657600" cy="32004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C8102E"/>
                </a:solidFill>
                <a:latin typeface="Helvetica"/>
              </a:rPr>
              <a:t>2012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49040"/>
            <a:ext cx="3291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Helvetica"/>
              </a:rPr>
              <a:t>Année d'introduction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Helvetica"/>
              </a:rPr>
              <a:t>6e révision LAI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2377440"/>
            <a:ext cx="3657600" cy="32004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560320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C8102E"/>
                </a:solidFill>
                <a:latin typeface="Helvetica"/>
              </a:rPr>
              <a:t>81 %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749040"/>
            <a:ext cx="3291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Helvetica"/>
              </a:rPr>
              <a:t>Bénéficiaires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Helvetica"/>
              </a:rPr>
              <a:t>satisfaits ou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Helvetica"/>
              </a:rPr>
              <a:t>très satisfaits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51206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Helvetica"/>
              </a:rPr>
              <a:t>Rapport OFAS 2020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2377440"/>
            <a:ext cx="3657600" cy="32004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560320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C8102E"/>
                </a:solidFill>
                <a:latin typeface="Helvetica"/>
              </a:rPr>
              <a:t>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749040"/>
            <a:ext cx="3291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Helvetica"/>
              </a:rPr>
              <a:t>Lourdeurs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Helvetica"/>
              </a:rPr>
              <a:t>administratives.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Helvetica"/>
              </a:rPr>
              <a:t>Non-extension aux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Helvetica"/>
              </a:rPr>
              <a:t>mineurs et personnes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Helvetica"/>
              </a:rPr>
              <a:t>en curatelle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51206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Helvetica"/>
              </a:rPr>
              <a:t>Critique Inclusion Handicap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1B3A6F"/>
                </a:solidFill>
                <a:latin typeface="Helvetica"/>
              </a:rPr>
              <a:t>→ Si Léa veut vivre dans son propre appartement, la contribution d'assistance est l'un des outils possibles.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C8102E"/>
                </a:solidFill>
                <a:latin typeface="Helvetica"/>
              </a:rPr>
              <a:t>[Micro-interaction] Parmi les transformations, laquelle vous semble la plus difficile à incarner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"/>
              </a:rPr>
              <a:t>Du protégé au sujet de droits · Leçon probatoire HETS · 5 juin 2026 · Contribution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Helvetica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3A6F"/>
                </a:solidFill>
                <a:latin typeface="Helvetica"/>
              </a:rPr>
              <a:t>Défi 1 — protection / autonomie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Helvetica"/>
              </a:rPr>
              <a:t>« La dignité du risque » (Perske, 1972)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1371600"/>
          </a:xfrm>
          <a:prstGeom prst="rect">
            <a:avLst/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1">
                <a:solidFill>
                  <a:srgbClr val="1A1A1A"/>
                </a:solidFill>
                <a:latin typeface="Helvetica"/>
              </a:rPr>
              <a:t>« Surprotéger les personnes handicapées, c'est nier leur humanité.</a:t>
            </a:r>
          </a:p>
          <a:p>
            <a:pPr algn="ctr"/>
            <a:r>
              <a:rPr sz="1500" b="0" i="1">
                <a:solidFill>
                  <a:srgbClr val="1A1A1A"/>
                </a:solidFill>
                <a:latin typeface="Helvetica"/>
              </a:rPr>
              <a:t>Il faut leur restituer le droit au risque ordinaire. »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91840"/>
            <a:ext cx="3200400" cy="731520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"/>
              </a:rPr>
              <a:t>Paternalisme bienveillant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3291840"/>
            <a:ext cx="7863840" cy="7315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34747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La protection peut devenir une forme de domination.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06240"/>
            <a:ext cx="3200400" cy="731520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"/>
              </a:rPr>
              <a:t>Capacité juridique CDPH art.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4206240"/>
            <a:ext cx="7863840" cy="7315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43891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Du paradigme tutélaire au paradigme du soutien.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120640"/>
            <a:ext cx="3200400" cy="731520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3035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"/>
              </a:rPr>
              <a:t>Éthique du care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5120640"/>
            <a:ext cx="7863840" cy="7315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0" y="53035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Tronto, Paperman &amp; Laugier : attention située, pas protocole.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"/>
              </a:rPr>
              <a:t>Du protégé au sujet de droits · Leçon probatoire HETS · 5 juin 2026 · Défi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Helvetica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3A6F"/>
                </a:solidFill>
                <a:latin typeface="Helvetica"/>
              </a:rPr>
              <a:t>Défi 2 — expertise professionnelle / savoir expérientiel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Helvetica"/>
              </a:rPr>
              <a:t>« Nothing about us without us » (Charlton, 1998)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1371600"/>
          </a:xfrm>
          <a:prstGeom prst="rect">
            <a:avLst/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1">
                <a:solidFill>
                  <a:srgbClr val="1A1A1A"/>
                </a:solidFill>
                <a:latin typeface="Helvetica"/>
              </a:rPr>
              <a:t>Co-construire un projet d'accompagnement avec une personne concernée</a:t>
            </a:r>
          </a:p>
          <a:p>
            <a:pPr algn="ctr"/>
            <a:r>
              <a:rPr sz="1500" b="0" i="1">
                <a:solidFill>
                  <a:srgbClr val="1A1A1A"/>
                </a:solidFill>
                <a:latin typeface="Helvetica"/>
              </a:rPr>
              <a:t>sans la réduire à un témoin (Brasseur &amp; Rodriguez, 2019).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91840"/>
            <a:ext cx="3200400" cy="731520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"/>
              </a:rPr>
              <a:t>Savoir expérientiel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3291840"/>
            <a:ext cx="7863840" cy="7315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34747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Jouet, Flora &amp; Las Vergnas : un savoir technique acquis dans une situation.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06240"/>
            <a:ext cx="3200400" cy="731520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"/>
              </a:rPr>
              <a:t>Pair-aidance professionnalisée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4206240"/>
            <a:ext cx="7863840" cy="7315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43891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Nouvelle figure dans les équipes interdisciplinaires.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120640"/>
            <a:ext cx="3200400" cy="731520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3035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"/>
              </a:rPr>
              <a:t>Disability studies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5120640"/>
            <a:ext cx="7863840" cy="7315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0" y="53035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« Les handicapés témoignent, les valides expertisent » (à déconstruire).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"/>
              </a:rPr>
              <a:t>Du protégé au sujet de droits · Leçon probatoire HETS · 5 juin 2026 · Défi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Helvetica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3A6F"/>
                </a:solidFill>
                <a:latin typeface="Helvetica"/>
              </a:rPr>
              <a:t>Défi 3 — travail prescrit / travail réel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Helvetica"/>
              </a:rPr>
              <a:t>Clot (1999, 2008) · Lipsky (1980) · Lenzi &amp; Moine (2025)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1371600"/>
          </a:xfrm>
          <a:prstGeom prst="rect">
            <a:avLst/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1">
                <a:solidFill>
                  <a:srgbClr val="1A1A1A"/>
                </a:solidFill>
                <a:latin typeface="Helvetica"/>
              </a:rPr>
              <a:t>Faire le travail prescrit (référentiels, procédures, contraintes)</a:t>
            </a:r>
          </a:p>
          <a:p>
            <a:pPr algn="ctr"/>
            <a:r>
              <a:rPr sz="1500" b="0" i="1">
                <a:solidFill>
                  <a:srgbClr val="1A1A1A"/>
                </a:solidFill>
                <a:latin typeface="Helvetica"/>
              </a:rPr>
              <a:t>ou faire le travail nécessaire (ce que la situation exige) 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91840"/>
            <a:ext cx="3200400" cy="731520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"/>
              </a:rPr>
              <a:t>Clinique de l'activité (Clot)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3291840"/>
            <a:ext cx="7863840" cy="7315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34747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Travail réalisé ≠ travail réel. Le « travail empêché ».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06240"/>
            <a:ext cx="3200400" cy="731520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"/>
              </a:rPr>
              <a:t>Street-level bureaucracy (Lipsky)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4206240"/>
            <a:ext cx="7863840" cy="7315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43891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Le TS comme producteur de politique publique au guichet.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120640"/>
            <a:ext cx="3200400" cy="731520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3035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"/>
              </a:rPr>
              <a:t>Autonomie discrétionnaire (Lenzi &amp; Moine, 2025)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5120640"/>
            <a:ext cx="7863840" cy="7315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0" y="53035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Cadre francophone pour penser les marges du métier.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"/>
              </a:rPr>
              <a:t>Du protégé au sujet de droits · Leçon probatoire HETS · 5 juin 2026 · Défi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Helvetica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3A6F"/>
                </a:solidFill>
                <a:latin typeface="Helvetica"/>
              </a:rPr>
              <a:t>Activité : retour à la situation de Léa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Helvetica"/>
              </a:rPr>
              <a:t>Think-pair-share · 5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146304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1A1A1A"/>
                </a:solidFill>
                <a:latin typeface="Helvetica"/>
              </a:rPr>
              <a:t>Léa, 22 ans, trisomie 21, vit à L'Atelier (Fondation Ensemble).</a:t>
            </a:r>
          </a:p>
          <a:p>
            <a:pPr algn="ctr"/>
            <a:r>
              <a:rPr sz="1400" b="0" i="1">
                <a:solidFill>
                  <a:srgbClr val="1A1A1A"/>
                </a:solidFill>
                <a:latin typeface="Helvetica"/>
              </a:rPr>
              <a:t>Elle dit : « Je veux un appartement à moi et un amoureux qui dort là. »</a:t>
            </a:r>
          </a:p>
          <a:p>
            <a:pPr algn="ctr"/>
            <a:r>
              <a:rPr sz="1400" b="0" i="1">
                <a:solidFill>
                  <a:srgbClr val="1A1A1A"/>
                </a:solidFill>
                <a:latin typeface="Helvetica"/>
              </a:rPr>
              <a:t>Sa mère demande à l'équipe de « la raisonner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C8102E"/>
                </a:solidFill>
                <a:latin typeface="Helvetica"/>
              </a:rPr>
              <a:t>CONSIGNE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108813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Helvetica"/>
              </a:rPr>
              <a:t>1. Seul·e, 2 minutes : choisis l'un des trois défis structurels.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Helvetica"/>
              </a:rPr>
              <a:t>2. En binôme, 2 minutes : formule en deux phrases ce que tu dirais à Léa, à sa mère et à l'équipe.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Helvetica"/>
              </a:rPr>
              <a:t>3. Restitution rapide : 3 binômes, un par défi. Pas de « bonne réponse » — une posture argumentée.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"/>
              </a:rPr>
              <a:t>Du protégé au sujet de droits · Leçon probatoire HETS · 5 juin 2026 · Activité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Helvetica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3A6F"/>
                </a:solidFill>
                <a:latin typeface="Helvetica"/>
              </a:rPr>
              <a:t>Trois acquis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Helvetica"/>
              </a:rPr>
              <a:t>Synthèse de la séance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C8102E"/>
                </a:solidFill>
                <a:latin typeface="Helvetic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08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3A6F"/>
                </a:solidFill>
                <a:latin typeface="Helvetica"/>
              </a:rPr>
              <a:t>Les modèles du handicap ne sont pas des étapes successives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011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1A1A1A"/>
                </a:solidFill>
                <a:latin typeface="Helvetica"/>
              </a:rPr>
              <a:t>Ils coexistent comme grammaires actives dans chaque institution. Reconnaître le modèle dominant d'une institution, c'est déjà commencer à y intervenir.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C8102E"/>
                </a:solidFill>
                <a:latin typeface="Helvetic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926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3A6F"/>
                </a:solidFill>
                <a:latin typeface="Helvetica"/>
              </a:rPr>
              <a:t>Les transformations suisses ouvrent des marges concrètes pour les 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4290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1A1A1A"/>
                </a:solidFill>
                <a:latin typeface="Helvetica"/>
              </a:rPr>
              <a:t>CDPH, contribution d'assistance AI, Initiative pour l'inclusion, plan cantonal CDPH genevois, avant-projet LED-H : autant d'outils que vous mobiliserez.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4340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C8102E"/>
                </a:solidFill>
                <a:latin typeface="Helvetic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343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3A6F"/>
                </a:solidFill>
                <a:latin typeface="Helvetica"/>
              </a:rPr>
              <a:t>La posture professionnelle n'est pas un trait personnel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8463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1A1A1A"/>
                </a:solidFill>
                <a:latin typeface="Helvetica"/>
              </a:rPr>
              <a:t>C'est un travail réflexif quotidien sur trois défis structurels (tensions) : protection/autonomie, expertise/expérience, prescrit/réel.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"/>
              </a:rPr>
              <a:t>Du protégé au sujet de droits · Leçon probatoire HETS · 5 juin 2026 · Acquis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Helvetica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3A6F"/>
                </a:solidFill>
                <a:latin typeface="Helvetica"/>
              </a:rPr>
              <a:t>Lectures et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Helvetica"/>
              </a:rPr>
              <a:t>Pour aller plus loin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Helvetica"/>
              </a:rPr>
              <a:t>LECTURES RECOMMANDÉES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Helvetica"/>
              </a:rPr>
              <a:t>• Ville, I., Fillion, E., &amp; Ravaud, J.-F. (2020). Introduction à la sociologie du handicap (2e éd.). De Boeck.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Helvetica"/>
              </a:rPr>
              <a:t>• Masse, M. et al. (2018). Accessibilité et participation sociale. Éditions ies, HETS Genève. Accès libre OpenEdition.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Helvetica"/>
              </a:rPr>
              <a:t>• Lenzi, C., &amp; Moine, A. (dir.) (2025). Des pas de côté dans le travail social. Le métier dans toutes ses marges. Champ social.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Helvetica"/>
              </a:rPr>
              <a:t>• Comité ONU CDPH (2022). Observations finales concernant le rapport initial de la Suisse. CRPD/C/CHE/CO/1.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389120"/>
            <a:ext cx="11247120" cy="1463040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5262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"/>
              </a:rPr>
              <a:t>SÉANCE SUIVANTE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Helvetica"/>
              </a:rPr>
              <a:t>Le travail avec les proches : entre alliés, opposants et co-aidants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Helvetica"/>
              </a:rPr>
              <a:t>La mère de Léa nous y accompagne. Apportez une situation de FP où la famille vous a déstabilisé·e.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"/>
              </a:rPr>
              <a:t>Du protégé au sujet de droits · Leçon probatoire HETS · 5 juin 2026 · Ouverture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Helvetica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3657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Helvetica"/>
              </a:rPr>
              <a:t>Merci de votre attention.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FFFFFF"/>
                </a:solidFill>
                <a:latin typeface="Helvetica"/>
              </a:rPr>
              <a:t>Je suis preneur de vos questions, de vos remarques, de vos désaccords.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Helvetica"/>
              </a:rPr>
              <a:t>20 minutes d'échange.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Helvetica"/>
              </a:rPr>
              <a:t>Pierre Brasseur · Leçon probatoire HETS Genève · 5 juin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